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194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4E71A4-9AAF-3E4B-A196-364F48383894}" type="datetimeFigureOut">
              <a:rPr lang="en-US" smtClean="0"/>
              <a:t>7/13/26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326307-71E6-7843-90FF-0E41E6C0FD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2421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Framing intentionally positions the model as decision support, not taxonomic replacement.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Metrics are best-observed values from current logged runs; not averaged across repeated seeds.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000">
                <a:latin typeface="Times New Roman"/>
              </a:rPr>
              <a:t>Coelogyne Orchid Species Classification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000" dirty="0">
                <a:latin typeface="Calibri"/>
              </a:rPr>
              <a:t>14 Jul 2026</a:t>
            </a:r>
            <a:endParaRPr sz="2000" dirty="0"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>
                <a:latin typeface="Times New Roman"/>
              </a:rPr>
              <a:t>Research Context and Botanical Relevance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2200">
                <a:latin typeface="Calibri"/>
              </a:rPr>
              <a:t>Objective: classify five Coelogyne taxa from floral imagery using deep learning.</a:t>
            </a:r>
          </a:p>
          <a:p>
            <a:pPr algn="l"/>
            <a:r>
              <a:rPr sz="2200">
                <a:latin typeface="Calibri"/>
              </a:rPr>
              <a:t>Use case: support preliminary identification workflow before expert morphological confirmation.</a:t>
            </a:r>
          </a:p>
          <a:p>
            <a:pPr algn="l"/>
            <a:r>
              <a:rPr sz="2200">
                <a:latin typeface="Calibri"/>
              </a:rPr>
              <a:t>Scope in this report: current computational performance from logged experiments.</a:t>
            </a:r>
          </a:p>
          <a:p>
            <a:pPr algn="l"/>
            <a:r>
              <a:rPr sz="2200">
                <a:latin typeface="Calibri"/>
              </a:rPr>
              <a:t>Taxa: Asperata, Dayana, Pandurata, Rumphii, Swaniana.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>
                <a:latin typeface="Times New Roman"/>
              </a:rPr>
              <a:t>Data and Experimental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2200">
                <a:latin typeface="Calibri"/>
              </a:rPr>
              <a:t>Image dataset organized by taxon directory (supervised 5-class setup).</a:t>
            </a:r>
          </a:p>
          <a:p>
            <a:pPr algn="l"/>
            <a:r>
              <a:rPr sz="2200">
                <a:latin typeface="Calibri"/>
              </a:rPr>
              <a:t>Exploratory analysis used unsupervised methods to inspect discriminative regions.</a:t>
            </a:r>
          </a:p>
          <a:p>
            <a:pPr algn="l"/>
            <a:r>
              <a:rPr sz="2200">
                <a:latin typeface="Calibri"/>
              </a:rPr>
              <a:t>Methods included variance mapping, gradient mapping, PCA, patch clustering, and t-SNE embedding.</a:t>
            </a:r>
          </a:p>
          <a:p>
            <a:pPr algn="l"/>
            <a:r>
              <a:rPr sz="2200">
                <a:latin typeface="Calibri"/>
              </a:rPr>
              <a:t>Model training used train/validation monitoring with TensorBoard event logs.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>
                <a:latin typeface="Times New Roman"/>
              </a:rPr>
              <a:t>Model Families Evaluated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2200">
                <a:latin typeface="Calibri"/>
              </a:rPr>
              <a:t>MobileNetV2 (transfer learning): head training and fine-tuning.</a:t>
            </a:r>
          </a:p>
          <a:p>
            <a:pPr algn="l"/>
            <a:r>
              <a:rPr sz="2200">
                <a:latin typeface="Calibri"/>
              </a:rPr>
              <a:t>EfficientNetV2S (transfer learning): head training and fine-tuning.</a:t>
            </a:r>
          </a:p>
          <a:p>
            <a:pPr algn="l"/>
            <a:r>
              <a:rPr sz="2200">
                <a:latin typeface="Calibri"/>
              </a:rPr>
              <a:t>EfficientNetV2S dedicated experiment: dropout=0.3, top-15 unfreezing, label smoothing=0.1.</a:t>
            </a:r>
          </a:p>
          <a:p>
            <a:pPr algn="l"/>
            <a:r>
              <a:rPr sz="2200">
                <a:latin typeface="Calibri"/>
              </a:rPr>
              <a:t>CSPDarknet53 (from-scratch custom CNN baseline).</a:t>
            </a:r>
          </a:p>
          <a:p>
            <a:pPr algn="l"/>
            <a:r>
              <a:rPr sz="2200">
                <a:latin typeface="Calibri"/>
              </a:rPr>
              <a:t>ViT-Tiny (transformer baseline).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latin typeface="Times New Roman"/>
              </a:rPr>
              <a:t>Validation Performance Summary (Current Logs)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0502932"/>
              </p:ext>
            </p:extLst>
          </p:nvPr>
        </p:nvGraphicFramePr>
        <p:xfrm>
          <a:off x="233916" y="1417638"/>
          <a:ext cx="8697433" cy="5039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27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42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27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476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8480">
                <a:tc>
                  <a:txBody>
                    <a:bodyPr/>
                    <a:lstStyle/>
                    <a:p>
                      <a:r>
                        <a:rPr sz="1400" b="1">
                          <a:latin typeface="Calibri"/>
                        </a:rPr>
                        <a:t>Model Stage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latin typeface="Calibri"/>
                        </a:rPr>
                        <a:t>Best Validation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latin typeface="Calibri"/>
                        </a:rPr>
                        <a:t>Best Validation Loss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latin typeface="Calibri"/>
                        </a:rPr>
                        <a:t>Interpretive Note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8480">
                <a:tc>
                  <a:txBody>
                    <a:bodyPr/>
                    <a:lstStyle/>
                    <a:p>
                      <a:r>
                        <a:rPr sz="1300">
                          <a:latin typeface="Calibri"/>
                        </a:rPr>
                        <a:t>EfficientNetV2S Fine-tune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Calibri"/>
                        </a:rPr>
                        <a:t>0.8158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Calibri"/>
                        </a:rPr>
                        <a:t>0.7566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Calibri"/>
                        </a:rPr>
                        <a:t>Best overall result in available logs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8480">
                <a:tc>
                  <a:txBody>
                    <a:bodyPr/>
                    <a:lstStyle/>
                    <a:p>
                      <a:r>
                        <a:rPr sz="1300">
                          <a:latin typeface="Calibri"/>
                        </a:rPr>
                        <a:t>EfficientNetV2S Head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Calibri"/>
                        </a:rPr>
                        <a:t>0.8026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Calibri"/>
                        </a:rPr>
                        <a:t>0.6602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Calibri"/>
                        </a:rPr>
                        <a:t>Strong pre-fine-tune baseline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8480">
                <a:tc>
                  <a:txBody>
                    <a:bodyPr/>
                    <a:lstStyle/>
                    <a:p>
                      <a:r>
                        <a:rPr sz="1300">
                          <a:latin typeface="Calibri"/>
                        </a:rPr>
                        <a:t>EffNet Dedicated R1 Fine-tune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Calibri"/>
                        </a:rPr>
                        <a:t>0.7895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Calibri"/>
                        </a:rPr>
                        <a:t>1.1064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Calibri"/>
                        </a:rPr>
                        <a:t>Stable but below peak main run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8480">
                <a:tc>
                  <a:txBody>
                    <a:bodyPr/>
                    <a:lstStyle/>
                    <a:p>
                      <a:r>
                        <a:rPr sz="1300">
                          <a:latin typeface="Calibri"/>
                        </a:rPr>
                        <a:t>EffNet Dedicated R1 Head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Calibri"/>
                        </a:rPr>
                        <a:t>0.7500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Calibri"/>
                        </a:rPr>
                        <a:t>0.9605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Calibri"/>
                        </a:rPr>
                        <a:t>Good early transfer signal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8480">
                <a:tc>
                  <a:txBody>
                    <a:bodyPr/>
                    <a:lstStyle/>
                    <a:p>
                      <a:r>
                        <a:rPr sz="1300">
                          <a:latin typeface="Calibri"/>
                        </a:rPr>
                        <a:t>MobileNetV2 Head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Calibri"/>
                        </a:rPr>
                        <a:t>0.6974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Calibri"/>
                        </a:rPr>
                        <a:t>1.3217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Calibri"/>
                        </a:rPr>
                        <a:t>Moderate lightweight baseline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8480">
                <a:tc>
                  <a:txBody>
                    <a:bodyPr/>
                    <a:lstStyle/>
                    <a:p>
                      <a:r>
                        <a:rPr sz="1300">
                          <a:latin typeface="Calibri"/>
                        </a:rPr>
                        <a:t>MobileNetV2 Fine-tune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Calibri"/>
                        </a:rPr>
                        <a:t>0.6842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Calibri"/>
                        </a:rPr>
                        <a:t>1.9504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Calibri"/>
                        </a:rPr>
                        <a:t>No clear improvement in best run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8480">
                <a:tc>
                  <a:txBody>
                    <a:bodyPr/>
                    <a:lstStyle/>
                    <a:p>
                      <a:r>
                        <a:rPr sz="1300">
                          <a:latin typeface="Calibri"/>
                        </a:rPr>
                        <a:t>CSPDarknet53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Calibri"/>
                        </a:rPr>
                        <a:t>0.4868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Calibri"/>
                        </a:rPr>
                        <a:t>11.1342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Calibri"/>
                        </a:rPr>
                        <a:t>Optimization/generalization issues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38480">
                <a:tc>
                  <a:txBody>
                    <a:bodyPr/>
                    <a:lstStyle/>
                    <a:p>
                      <a:r>
                        <a:rPr sz="1300">
                          <a:latin typeface="Calibri"/>
                        </a:rPr>
                        <a:t>ViT-Tiny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Calibri"/>
                        </a:rPr>
                        <a:t>0.2763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Calibri"/>
                        </a:rPr>
                        <a:t>1.9591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dirty="0">
                          <a:latin typeface="Calibri"/>
                        </a:rPr>
                        <a:t>Insufficient under current setup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>
                <a:latin typeface="Times New Roman"/>
              </a:rPr>
              <a:t>Technical 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2200">
                <a:latin typeface="Calibri"/>
              </a:rPr>
              <a:t>Transfer-learning CNNs outperform tested from-scratch and transformer baselines.</a:t>
            </a:r>
          </a:p>
          <a:p>
            <a:pPr algn="l"/>
            <a:r>
              <a:rPr sz="2200">
                <a:latin typeface="Calibri"/>
              </a:rPr>
              <a:t>EfficientNetV2S appears to capture discriminative floral traits most effectively in this dataset.</a:t>
            </a:r>
          </a:p>
          <a:p>
            <a:pPr algn="l"/>
            <a:r>
              <a:rPr sz="2200">
                <a:latin typeface="Calibri"/>
              </a:rPr>
              <a:t>MobileNetV2 remains relevant where deployment constraints prioritize model compactness.</a:t>
            </a:r>
          </a:p>
          <a:p>
            <a:pPr algn="l"/>
            <a:r>
              <a:rPr sz="2200">
                <a:latin typeface="Calibri"/>
              </a:rPr>
              <a:t>CSPDarknet53 high loss profile suggests unstable optimization for present data regime.</a:t>
            </a:r>
          </a:p>
          <a:p>
            <a:pPr algn="l"/>
            <a:r>
              <a:rPr sz="2200">
                <a:latin typeface="Calibri"/>
              </a:rPr>
              <a:t>ViT-Tiny likely requires larger data volume and/or alternative pretraining strategy.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>
                <a:latin typeface="Times New Roman"/>
              </a:rPr>
              <a:t>Botany-Oriented 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2200">
                <a:latin typeface="Calibri"/>
              </a:rPr>
              <a:t>Model can accelerate preliminary sorting of specimens into likely taxa.</a:t>
            </a:r>
          </a:p>
          <a:p>
            <a:pPr algn="l"/>
            <a:r>
              <a:rPr sz="2200">
                <a:latin typeface="Calibri"/>
              </a:rPr>
              <a:t>Most reliable current candidate is EfficientNetV2S for decision support pipelines.</a:t>
            </a:r>
          </a:p>
          <a:p>
            <a:pPr algn="l"/>
            <a:r>
              <a:rPr sz="2200">
                <a:latin typeface="Calibri"/>
              </a:rPr>
              <a:t>Predictions should be interpreted alongside key morphological characters and expert review.</a:t>
            </a:r>
          </a:p>
          <a:p>
            <a:pPr algn="l"/>
            <a:r>
              <a:rPr sz="2200">
                <a:latin typeface="Calibri"/>
              </a:rPr>
              <a:t>Potential utility: curation triage, field-photo pre-screening, and educational collections.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>
                <a:latin typeface="Times New Roman"/>
              </a:rPr>
              <a:t>Current Limitations (Academic Transparency)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2200">
                <a:latin typeface="Calibri"/>
              </a:rPr>
              <a:t>Reported values are validation-log based; external hold-out botanical survey is pending.</a:t>
            </a:r>
          </a:p>
          <a:p>
            <a:pPr algn="l"/>
            <a:r>
              <a:rPr sz="2200">
                <a:latin typeface="Calibri"/>
              </a:rPr>
              <a:t>Multiple runs exist; best-run reporting can obscure variance between training repeats.</a:t>
            </a:r>
          </a:p>
          <a:p>
            <a:pPr algn="l"/>
            <a:r>
              <a:rPr sz="2200">
                <a:latin typeface="Calibri"/>
              </a:rPr>
              <a:t>Per-class precision/recall and confusion behavior need consolidated reporting.</a:t>
            </a:r>
          </a:p>
          <a:p>
            <a:pPr algn="l"/>
            <a:r>
              <a:rPr sz="2200">
                <a:latin typeface="Calibri"/>
              </a:rPr>
              <a:t>Potential dataset bias (lighting, angle, phenological stage) remains to be quantified.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>
                <a:latin typeface="Times New Roman"/>
              </a:rPr>
              <a:t>Recommended Next Experiments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2200">
                <a:latin typeface="Calibri"/>
              </a:rPr>
              <a:t>Perform repeated-seed experiments and report mean ± SD for robust comparison.</a:t>
            </a:r>
          </a:p>
          <a:p>
            <a:pPr algn="l"/>
            <a:r>
              <a:rPr sz="2200">
                <a:latin typeface="Calibri"/>
              </a:rPr>
              <a:t>Add class-wise metrics and confusion analysis for morphologically similar taxa.</a:t>
            </a:r>
          </a:p>
          <a:p>
            <a:pPr algn="l"/>
            <a:r>
              <a:rPr sz="2200">
                <a:latin typeface="Calibri"/>
              </a:rPr>
              <a:t>Evaluate calibration (confidence reliability) before practical deployment.</a:t>
            </a:r>
          </a:p>
          <a:p>
            <a:pPr algn="l"/>
            <a:r>
              <a:rPr sz="2200">
                <a:latin typeface="Calibri"/>
              </a:rPr>
              <a:t>Test external image sets from varied habitats, devices, and flowering conditions.</a:t>
            </a:r>
          </a:p>
          <a:p>
            <a:pPr algn="l"/>
            <a:r>
              <a:rPr sz="2200">
                <a:latin typeface="Calibri"/>
              </a:rPr>
              <a:t>Document reproducible protocol for the selected final checkpoint.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>
                <a:latin typeface="Times New Roman"/>
              </a:rPr>
              <a:t>Deployment 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2200">
                <a:latin typeface="Calibri"/>
              </a:rPr>
              <a:t>Primary candidate: EfficientNetV2S fine-tuned model.</a:t>
            </a:r>
          </a:p>
          <a:p>
            <a:pPr algn="l"/>
            <a:r>
              <a:rPr sz="2200">
                <a:latin typeface="Calibri"/>
              </a:rPr>
              <a:t>Fallback for constrained environments: MobileNetV2.</a:t>
            </a:r>
          </a:p>
          <a:p>
            <a:pPr algn="l"/>
            <a:r>
              <a:rPr sz="2200">
                <a:latin typeface="Calibri"/>
              </a:rPr>
              <a:t>TFLite artifacts are already available, enabling pilot deployment studies.</a:t>
            </a:r>
          </a:p>
          <a:p>
            <a:pPr algn="l"/>
            <a:r>
              <a:rPr sz="2200">
                <a:latin typeface="Calibri"/>
              </a:rPr>
              <a:t>Recommendation: release as assistive tool with expert-in-the-loop validation.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>
                <a:latin typeface="Times New Roman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2200">
                <a:latin typeface="Calibri"/>
              </a:rPr>
              <a:t>Current evidence supports EfficientNetV2S as the strongest direction for Coelogyne image classification.</a:t>
            </a:r>
          </a:p>
          <a:p>
            <a:pPr algn="l"/>
            <a:r>
              <a:rPr sz="2200">
                <a:latin typeface="Calibri"/>
              </a:rPr>
              <a:t>For academic botany use, the model is best positioned as a complementary identification aid.</a:t>
            </a:r>
          </a:p>
          <a:p>
            <a:pPr algn="l"/>
            <a:r>
              <a:rPr sz="2200">
                <a:latin typeface="Calibri"/>
              </a:rPr>
              <a:t>Next value gain will come from external validation and taxon-level error characterization.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587</Words>
  <Application>Microsoft Macintosh PowerPoint</Application>
  <PresentationFormat>On-screen Show (4:3)</PresentationFormat>
  <Paragraphs>88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Arial</vt:lpstr>
      <vt:lpstr>Calibri</vt:lpstr>
      <vt:lpstr>Times New Roman</vt:lpstr>
      <vt:lpstr>Office Theme</vt:lpstr>
      <vt:lpstr>Coelogyne Orchid Species Classification</vt:lpstr>
      <vt:lpstr>Research Context and Botanical Relevance</vt:lpstr>
      <vt:lpstr>Data and Experimental Workflow</vt:lpstr>
      <vt:lpstr>Model Families Evaluated</vt:lpstr>
      <vt:lpstr>Validation Performance Summary (Current Logs)</vt:lpstr>
      <vt:lpstr>Technical Interpretation</vt:lpstr>
      <vt:lpstr>Botany-Oriented Interpretation</vt:lpstr>
      <vt:lpstr>Current Limitations (Academic Transparency)</vt:lpstr>
      <vt:lpstr>Recommended Next Experiments</vt:lpstr>
      <vt:lpstr>Deployment Position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Iga Narendra Pramawijaya</cp:lastModifiedBy>
  <cp:revision>2</cp:revision>
  <dcterms:created xsi:type="dcterms:W3CDTF">2013-01-27T09:14:16Z</dcterms:created>
  <dcterms:modified xsi:type="dcterms:W3CDTF">2026-07-13T03:50:14Z</dcterms:modified>
  <cp:category/>
</cp:coreProperties>
</file>