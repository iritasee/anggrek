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9" r:id="rId9"/>
    <p:sldId id="270" r:id="rId10"/>
    <p:sldId id="272" r:id="rId11"/>
    <p:sldId id="273" r:id="rId12"/>
    <p:sldId id="27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94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4E71A4-9AAF-3E4B-A196-364F4838389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326307-71E6-7843-90FF-0E41E6C0F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24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Framing intentionally positions the model as decision support, not taxonomic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Metrics are best-observed values from current logged runs; not averaged across repeated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Times New Roman"/>
              </a:rPr>
              <a:t>Coelogyne Orchid Species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D9E4DA"/>
                </a:solidFill>
                <a:latin typeface="Calibri"/>
              </a:rPr>
              <a:t>14 Jul 2026</a:t>
            </a:r>
            <a:endParaRPr sz="2000" dirty="0"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i="1">
                <a:solidFill>
                  <a:srgbClr val="E3B887"/>
                </a:solidFill>
                <a:latin typeface="Calibri"/>
              </a:rPr>
              <a:t>Deep Learning for Botanical Species Identification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D2B"/>
                </a:solidFill>
                <a:latin typeface="Times New Roman"/>
              </a:rPr>
              <a:t>Research Context and Botanical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Objective: classify five Coelogyne taxa from floral imagery using deep learning.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Use case: support preliminary identification workflow before expert morphological confirmation.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Scope in this report: current computational performance from logged experiments.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Taxa: Asperata, Dayana, Pandurata, Rumphii, Swaniana.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D2B"/>
                </a:solidFill>
                <a:latin typeface="Times New Roman"/>
              </a:rPr>
              <a:t>Data and Experimental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Image dataset organized by taxon directory (supervised 5-class setup).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Exploratory analysis used unsupervised methods to inspect discriminative regions.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Methods included variance mapping, gradient mapping, PCA, patch clustering, and t-SNE embedding.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Model training used train/validation monitoring with TensorBoard event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D2B"/>
                </a:solidFill>
                <a:latin typeface="Times New Roman"/>
              </a:rPr>
              <a:t>Model Families Evaluated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MobileNetV2 (transfer learning): head training and fine-tuning.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EfficientNetV2S (transfer learning): head training and fine-tuning.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EfficientNetV2S dedicated experiment: dropout=0.3, top-15 unfreezing, label smoothing=0.1.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CSPDarknet53 (from-scratch custom CNN baseline).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ViT-Tiny (transformer baseline).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latin typeface="Times New Roman"/>
              </a:rPr>
              <a:t>Validation Performance Summary (Current Logs)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502932"/>
              </p:ext>
            </p:extLst>
          </p:nvPr>
        </p:nvGraphicFramePr>
        <p:xfrm>
          <a:off x="233916" y="1417638"/>
          <a:ext cx="8697433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4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76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 Stage</a:t>
                      </a:r>
                    </a:p>
                  </a:txBody>
                  <a:tcPr marT="50800" marB="50800"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Best Validation Accuracy</a:t>
                      </a:r>
                    </a:p>
                  </a:txBody>
                  <a:tcPr marT="50800" marB="50800"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Best Validation Loss</a:t>
                      </a:r>
                    </a:p>
                  </a:txBody>
                  <a:tcPr marT="50800" marB="50800"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Interpretive Note</a:t>
                      </a:r>
                    </a:p>
                  </a:txBody>
                  <a:tcPr marT="50800" marB="50800">
                    <a:solidFill>
                      <a:srgbClr val="1F3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D2B"/>
                          </a:solidFill>
                          <a:latin typeface="Calibri"/>
                        </a:rPr>
                        <a:t>EfficientNetV2S Fine-tune</a:t>
                      </a:r>
                    </a:p>
                  </a:txBody>
                  <a:tcPr marT="50800" marB="50800"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D2B"/>
                          </a:solidFill>
                          <a:latin typeface="Calibri"/>
                        </a:rPr>
                        <a:t>0.8158</a:t>
                      </a:r>
                    </a:p>
                  </a:txBody>
                  <a:tcPr marT="50800" marB="50800"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D2B"/>
                          </a:solidFill>
                          <a:latin typeface="Calibri"/>
                        </a:rPr>
                        <a:t>0.7566</a:t>
                      </a:r>
                    </a:p>
                  </a:txBody>
                  <a:tcPr marT="50800" marB="50800"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D2B"/>
                          </a:solidFill>
                          <a:latin typeface="Calibri"/>
                        </a:rPr>
                        <a:t>Best overall result in available logs</a:t>
                      </a:r>
                    </a:p>
                  </a:txBody>
                  <a:tcPr marT="50800" marB="50800">
                    <a:solidFill>
                      <a:srgbClr val="EE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EfficientNetV2S Head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0.8026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0.6602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Strong pre-fine-tune baseline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EffNet Dedicated R1 Fine-tune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0.7895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1.1064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Stable but below peak main run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EffNet Dedicated R1 Head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0.7500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0.9605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Good early transfer signal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MobileNetV2 Head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0.6974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1.3217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Moderate lightweight baseline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MobileNetV2 Fine-tune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0.6842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1.9504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No clear improvement in best run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CSPDarknet53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0.4868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11.1342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Optimization/generalization issues</a:t>
                      </a:r>
                    </a:p>
                  </a:txBody>
                  <a:tcPr marT="50800" marB="50800">
                    <a:solidFill>
                      <a:srgbClr val="F7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ViT-Tiny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0.2763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8"/>
                          </a:solidFill>
                          <a:latin typeface="Calibri"/>
                        </a:rPr>
                        <a:t>1.9591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2A2A28"/>
                          </a:solidFill>
                          <a:latin typeface="Calibri"/>
                        </a:rPr>
                        <a:t>Insufficient under current setup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3D2B"/>
                </a:solidFill>
                <a:latin typeface="Times New Roman"/>
              </a:rPr>
              <a:t>Training and Validation Curves</a:t>
            </a:r>
          </a:p>
        </p:txBody>
      </p:sp>
      <p:pic>
        <p:nvPicPr>
          <p:cNvPr id="3" name="Picture 2" descr="training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74519"/>
            <a:ext cx="8412480" cy="25830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95959"/>
                </a:solidFill>
                <a:latin typeface="Calibri"/>
              </a:rPr>
              <a:t>Accuracy and loss over epochs across model training runs. EfficientNetV2S converges highest and most stably; CSPDarknet53 and ViT-Tiny plateau well below 40%.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3D2B"/>
                </a:solidFill>
                <a:latin typeface="Times New Roman"/>
              </a:rPr>
              <a:t>Model Comparison — Validation Accuracy</a:t>
            </a:r>
          </a:p>
        </p:txBody>
      </p:sp>
      <p:pic>
        <p:nvPicPr>
          <p:cNvPr id="3" name="Picture 2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00200"/>
            <a:ext cx="6949440" cy="34325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95959"/>
                </a:solidFill>
                <a:latin typeface="Calibri"/>
              </a:rPr>
              <a:t>Best validation accuracy by model family. EfficientNetV2S leads at 0.8158, more than double CSPDarknet53 and ViT-Tiny.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3D2B"/>
                </a:solidFill>
                <a:latin typeface="Times New Roman"/>
              </a:rPr>
              <a:t>Confusion Matrices by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123444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latin typeface="Calibri"/>
              </a:rPr>
              <a:t>EfficientNetV2S</a:t>
            </a:r>
          </a:p>
        </p:txBody>
      </p:sp>
      <p:pic>
        <p:nvPicPr>
          <p:cNvPr id="4" name="Picture 3" descr="confusion_matrix_efficientnetv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536192"/>
            <a:ext cx="2651760" cy="23312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23444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latin typeface="Calibri"/>
              </a:rPr>
              <a:t>MobileNetV2</a:t>
            </a:r>
          </a:p>
        </p:txBody>
      </p:sp>
      <p:pic>
        <p:nvPicPr>
          <p:cNvPr id="6" name="Picture 5" descr="confusion_matrix_mobilenet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536192"/>
            <a:ext cx="2651760" cy="2331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8720" y="3977639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latin typeface="Calibri"/>
              </a:rPr>
              <a:t>CSPDarknet53</a:t>
            </a:r>
          </a:p>
        </p:txBody>
      </p:sp>
      <p:pic>
        <p:nvPicPr>
          <p:cNvPr id="8" name="Picture 7" descr="confusion_matrix_cspdarknet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4279392"/>
            <a:ext cx="2651760" cy="23787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0" y="3977639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latin typeface="Calibri"/>
              </a:rPr>
              <a:t>ViT-Tiny</a:t>
            </a:r>
          </a:p>
        </p:txBody>
      </p:sp>
      <p:pic>
        <p:nvPicPr>
          <p:cNvPr id="10" name="Picture 9" descr="confusion_matrix_vit-ti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4279392"/>
            <a:ext cx="2651760" cy="23312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3D2B"/>
                </a:solidFill>
                <a:latin typeface="Times New Roman"/>
              </a:rPr>
              <a:t>Grad-CAM Attention — Where Each Model Looks</a:t>
            </a:r>
          </a:p>
        </p:txBody>
      </p:sp>
      <p:pic>
        <p:nvPicPr>
          <p:cNvPr id="3" name="Picture 2" descr="gradcam_efficientnetv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65" y="1555861"/>
            <a:ext cx="8814270" cy="35796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37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95959"/>
                </a:solidFill>
                <a:latin typeface="Calibri"/>
              </a:rPr>
              <a:t>Highlighted regions show the image areas most influential to each model's prediction.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Times New Roman"/>
              </a:rPr>
              <a:t>Grad-CAM Attention — Where Each Model Looks</a:t>
            </a:r>
          </a:p>
        </p:txBody>
      </p:sp>
      <p:pic>
        <p:nvPicPr>
          <p:cNvPr id="5" name="Picture 4" descr="gradcam_mobilenet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24" y="1417638"/>
            <a:ext cx="9032351" cy="3668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37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95959"/>
                </a:solidFill>
                <a:latin typeface="Calibri"/>
              </a:rPr>
              <a:t>Highlighted regions show the image areas most influential to each model's prediction.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Times New Roman"/>
              </a:rPr>
              <a:t>Grad-CAM Attention — Where Each Model Looks</a:t>
            </a:r>
          </a:p>
        </p:txBody>
      </p:sp>
      <p:pic>
        <p:nvPicPr>
          <p:cNvPr id="7" name="Picture 6" descr="gradcam_cspdarknet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1" y="1417638"/>
            <a:ext cx="9092569" cy="36926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37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95959"/>
                </a:solidFill>
                <a:latin typeface="Calibri"/>
              </a:rPr>
              <a:t>Highlighted regions show the image areas most influential to each model's prediction.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1F3D2B"/>
                </a:solidFill>
                <a:latin typeface="Times New Roman"/>
              </a:rPr>
              <a:t>Key Finding: Attention Lands on the Pseudobulb Base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6192"/>
            <a:ext cx="1874519" cy="381338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536192"/>
            <a:ext cx="1874519" cy="3813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2344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Calibri"/>
              </a:rPr>
              <a:t>Correct: Asperata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12344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03A2E"/>
                </a:solidFill>
                <a:latin typeface="Calibri"/>
              </a:rPr>
              <a:t>Misread: Asperata to Dayana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95292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2A28"/>
                </a:solidFill>
                <a:latin typeface="Calibri"/>
              </a:rPr>
              <a:t>Heat concentrates on the pseudobulb / stem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5395292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2A28"/>
                </a:solidFill>
                <a:latin typeface="Calibri"/>
              </a:rPr>
              <a:t>Heat drifts to the pot rim and background clutter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123444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762C"/>
                </a:solidFill>
                <a:latin typeface="Calibri"/>
              </a:rPr>
              <a:t>What this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600200"/>
            <a:ext cx="4023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Clr>
                <a:srgbClr val="C9762C"/>
              </a:buClr>
              <a:buSzPct val="90000"/>
              <a:buChar char="●"/>
            </a:pPr>
            <a:r>
              <a:rPr sz="1300">
                <a:solidFill>
                  <a:srgbClr val="2A2A28"/>
                </a:solidFill>
                <a:latin typeface="Calibri"/>
              </a:rPr>
              <a:t>Correct predictions activate on the pseudobulb/stem base — the character botanists already use for ID.</a:t>
            </a:r>
          </a:p>
          <a:p>
            <a:pPr>
              <a:spcAft>
                <a:spcPts val="800"/>
              </a:spcAft>
              <a:buClr>
                <a:srgbClr val="C9762C"/>
              </a:buClr>
              <a:buSzPct val="90000"/>
              <a:buChar char="●"/>
            </a:pPr>
            <a:r>
              <a:rPr sz="1300">
                <a:solidFill>
                  <a:srgbClr val="2A2A28"/>
                </a:solidFill>
                <a:latin typeface="Calibri"/>
              </a:rPr>
              <a:t>Misclassifications happen when attention leaks onto pots, shelving, or neighboring plants.</a:t>
            </a:r>
          </a:p>
          <a:p>
            <a:pPr>
              <a:spcAft>
                <a:spcPts val="800"/>
              </a:spcAft>
              <a:buClr>
                <a:srgbClr val="C9762C"/>
              </a:buClr>
              <a:buSzPct val="90000"/>
              <a:buChar char="●"/>
            </a:pPr>
            <a:r>
              <a:rPr sz="1300">
                <a:solidFill>
                  <a:srgbClr val="2A2A28"/>
                </a:solidFill>
                <a:latin typeface="Calibri"/>
              </a:rPr>
              <a:t>This is an actionable error driver, ahead of collecting more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4343400"/>
            <a:ext cx="4023360" cy="2148840"/>
          </a:xfrm>
          <a:prstGeom prst="roundRect">
            <a:avLst/>
          </a:prstGeom>
          <a:solidFill>
            <a:srgbClr val="EEF3EC"/>
          </a:solidFill>
          <a:ln w="15875">
            <a:solidFill>
              <a:srgbClr val="C97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28016" rtlCol="0" anchor="ctr"/>
          <a:lstStyle/>
          <a:p>
            <a:pPr algn="ctr"/>
            <a:r>
              <a:rPr sz="1400" b="1">
                <a:solidFill>
                  <a:srgbClr val="1F3D2B"/>
                </a:solidFill>
                <a:latin typeface="Calibri"/>
              </a:rPr>
              <a:t>Next Phase: Region-of-Interest (ROI) Modeling</a:t>
            </a:r>
          </a:p>
          <a:p>
            <a:pPr>
              <a:spcBef>
                <a:spcPts val="600"/>
              </a:spcBef>
            </a:pPr>
            <a:r>
              <a:rPr sz="1250">
                <a:solidFill>
                  <a:srgbClr val="2A2A28"/>
                </a:solidFill>
                <a:latin typeface="Calibri"/>
              </a:rPr>
              <a:t>Detect and crop to the pseudobulb/base region before classification, so the model learns from diagnostic plant structure instead of background context.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D2B"/>
                </a:solidFill>
                <a:latin typeface="Times New Roman"/>
              </a:rPr>
              <a:t>Botany-Oriented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Model can accelerate preliminary sorting of specimens into likely taxa.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Most reliable current candidate is EfficientNetV2S for decision support pipelines.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Predictions should be interpreted alongside key morphological characters and expert review.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Potential utility: curation triage, field-photo pre-screening, and educational collections.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D2B"/>
                </a:solidFill>
                <a:latin typeface="Times New Roman"/>
              </a:rPr>
              <a:t>Current Limitations (Academic Transparency)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Reported values are validation-log based; external hold-out botanical survey is pending.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Multiple runs exist; best-run reporting can obscure variance between training repeats.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Per-class precision/recall and confusion behavior need consolidated reporting.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Potential dataset bias (lighting, angle, phenological stage) remains to be quantified.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D2B"/>
                </a:solidFill>
                <a:latin typeface="Times New Roman"/>
              </a:rPr>
              <a:t>Recommended Next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 b="1">
                <a:solidFill>
                  <a:srgbClr val="1F3D2B"/>
                </a:solidFill>
                <a:latin typeface="Calibri"/>
              </a:rPr>
              <a:t>Priority: build an ROI stage that detects/crops the pseudobulb-base region before classification (see prior finding).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Perform repeated-seed experiments and report mean ± SD for robust comparison.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Add class-wise metrics and confusion analysis for morphologically similar taxa.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Evaluate calibration (confidence reliability) before practical deployment.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Test external image sets from varied habitats, devices, and flowering conditions.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Document reproducible protocol for the selected final checkpoint.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D2B"/>
                </a:solidFill>
                <a:latin typeface="Times New Roman"/>
              </a:rPr>
              <a:t>Deployment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Primary candidate: EfficientNetV2S fine-tuned model.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Fallback for constrained environments: MobileNetV2.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TFLite artifacts are already available, enabling pilot deployment studies.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 b="1">
                <a:solidFill>
                  <a:srgbClr val="1F3D2B"/>
                </a:solidFill>
                <a:latin typeface="Calibri"/>
              </a:rPr>
              <a:t>Next milestone before wider pilot: retrain with an ROI-focused crop on the pseudobulb/base region to reduce background-driven errors.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800">
                <a:solidFill>
                  <a:srgbClr val="2A2A28"/>
                </a:solidFill>
                <a:latin typeface="Calibri"/>
              </a:rPr>
              <a:t>Recommendation: release as assistive tool with expert-in-the-loop validation.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Clr>
                <a:srgbClr val="C9762C"/>
              </a:buClr>
              <a:buSzPct val="90000"/>
              <a:buChar char="●"/>
            </a:pPr>
            <a:r>
              <a:rPr sz="1900">
                <a:solidFill>
                  <a:srgbClr val="ECEFEA"/>
                </a:solidFill>
                <a:latin typeface="Calibri"/>
              </a:rPr>
              <a:t>Current evidence supports EfficientNetV2S as the strongest direction for Coelogyne image classification.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900">
                <a:solidFill>
                  <a:srgbClr val="ECEFEA"/>
                </a:solidFill>
                <a:latin typeface="Calibri"/>
              </a:rPr>
              <a:t>For academic botany use, the model is best positioned as a complementary identification aid.</a:t>
            </a:r>
          </a:p>
          <a:p>
            <a:pPr algn="l">
              <a:buClr>
                <a:srgbClr val="C9762C"/>
              </a:buClr>
              <a:buSzPct val="90000"/>
              <a:buChar char="●"/>
            </a:pPr>
            <a:r>
              <a:rPr sz="1900">
                <a:solidFill>
                  <a:srgbClr val="ECEFEA"/>
                </a:solidFill>
                <a:latin typeface="Calibri"/>
              </a:rPr>
              <a:t>Next value gain will come from external validation and taxon-level error characterization.</a:t>
            </a:r>
          </a:p>
          <a:p>
            <a:pPr>
              <a:buClr>
                <a:srgbClr val="C9762C"/>
              </a:buClr>
              <a:buSzPct val="90000"/>
              <a:buChar char="●"/>
            </a:pPr>
            <a:r>
              <a:rPr sz="1900" b="1">
                <a:solidFill>
                  <a:srgbClr val="E3B887"/>
                </a:solidFill>
                <a:latin typeface="Calibri"/>
              </a:rPr>
              <a:t>Immediate next step: ROI-focused retraining on the pseudobulb/base region to cut background-driven misclassifications.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829</Words>
  <Application>Microsoft Macintosh PowerPoint</Application>
  <PresentationFormat>On-screen Show (4:3)</PresentationFormat>
  <Paragraphs>112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Times New Roman</vt:lpstr>
      <vt:lpstr>Office Theme</vt:lpstr>
      <vt:lpstr>Coelogyne Orchid Species Classification</vt:lpstr>
      <vt:lpstr>Research Context and Botanical Relevance</vt:lpstr>
      <vt:lpstr>Data and Experimental Workflow</vt:lpstr>
      <vt:lpstr>Model Families Evaluated</vt:lpstr>
      <vt:lpstr>Validation Performance Summary (Current Logs)</vt:lpstr>
      <vt:lpstr>Training and Validation Curves</vt:lpstr>
      <vt:lpstr>Model Comparison — Validation Accuracy</vt:lpstr>
      <vt:lpstr>Confusion Matrices by Model</vt:lpstr>
      <vt:lpstr>Grad-CAM Attention — Where Each Model Looks</vt:lpstr>
      <vt:lpstr>Grad-CAM Attention — Where Each Model Looks</vt:lpstr>
      <vt:lpstr>Grad-CAM Attention — Where Each Model Looks</vt:lpstr>
      <vt:lpstr>Key Finding: Attention Lands on the Pseudobulb Base</vt:lpstr>
      <vt:lpstr>Botany-Oriented Interpretation</vt:lpstr>
      <vt:lpstr>Current Limitations (Academic Transparency)</vt:lpstr>
      <vt:lpstr>Recommended Next Experiments</vt:lpstr>
      <vt:lpstr>Deployment Position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Iga Narendra Pramawijaya</cp:lastModifiedBy>
  <cp:revision>3</cp:revision>
  <dcterms:created xsi:type="dcterms:W3CDTF">2013-01-27T09:14:16Z</dcterms:created>
  <dcterms:modified xsi:type="dcterms:W3CDTF">2026-07-13T04:20:27Z</dcterms:modified>
  <cp:category/>
</cp:coreProperties>
</file>